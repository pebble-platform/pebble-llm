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28FDD4-1023-43AD-B4BF-841468F7A1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4DC5A0-A9EE-4912-B64B-C92BA0F35C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C6B52A-2DBC-472F-9FE4-B90D44BAF5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8C4C73-F8D1-42BE-8A35-132A04823E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D7FF4C-F26D-4D48-93D1-C9952A8205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C39617-0104-475B-AD5E-CC951D7ECE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AE54D1-5424-49EF-88E9-A71591B6EA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A1BBB8-3119-4195-927F-A75DE9DD83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78B38C-EC26-4BB1-A123-8960EA34AB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D64B2E-DD15-4430-87C9-FC52B7BF6F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81E635-816E-4D3E-846C-BBD131F03A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ViEmoSpeech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21720" y="141732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Building a Vietnamese Speech Emotion Corpus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and Testing the Tone × Emotion Hypothesis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8823960" y="1325880"/>
            <a:ext cx="2559960" cy="3474360"/>
          </a:xfrm>
          <a:prstGeom prst="roundRect">
            <a:avLst>
              <a:gd name="adj" fmla="val 16667"/>
            </a:avLst>
          </a:prstGeom>
          <a:solidFill>
            <a:srgbClr val="192d46"/>
          </a:solidFill>
          <a:ln>
            <a:solidFill>
              <a:srgbClr val="192d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89720" y="1783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7c3cd"/>
                </a:solidFill>
                <a:effectLst/>
                <a:uFillTx/>
                <a:latin typeface="Aptos"/>
              </a:rPr>
              <a:t>VOICE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9253800" y="3314880"/>
            <a:ext cx="91080" cy="319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9445680" y="3108960"/>
            <a:ext cx="91080" cy="731160"/>
          </a:xfrm>
          <a:prstGeom prst="rect">
            <a:avLst/>
          </a:prstGeom>
          <a:solidFill>
            <a:srgbClr val="37c3cd"/>
          </a:solidFill>
          <a:ln>
            <a:solidFill>
              <a:srgbClr val="37c3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9637920" y="2834640"/>
            <a:ext cx="91080" cy="127980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9829800" y="3177360"/>
            <a:ext cx="91080" cy="594000"/>
          </a:xfrm>
          <a:prstGeom prst="rect">
            <a:avLst/>
          </a:prstGeom>
          <a:solidFill>
            <a:srgbClr val="37c3cd"/>
          </a:solidFill>
          <a:ln>
            <a:solidFill>
              <a:srgbClr val="37c3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10021680" y="2674800"/>
            <a:ext cx="91080" cy="159984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10213920" y="3040200"/>
            <a:ext cx="91080" cy="868320"/>
          </a:xfrm>
          <a:prstGeom prst="rect">
            <a:avLst/>
          </a:prstGeom>
          <a:solidFill>
            <a:srgbClr val="37c3cd"/>
          </a:solidFill>
          <a:ln>
            <a:solidFill>
              <a:srgbClr val="37c3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10405800" y="3268800"/>
            <a:ext cx="91080" cy="41112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10598040" y="3086280"/>
            <a:ext cx="91080" cy="776880"/>
          </a:xfrm>
          <a:prstGeom prst="rect">
            <a:avLst/>
          </a:prstGeom>
          <a:solidFill>
            <a:srgbClr val="37c3cd"/>
          </a:solidFill>
          <a:ln>
            <a:solidFill>
              <a:srgbClr val="37c3c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10789920" y="3337560"/>
            <a:ext cx="91080" cy="27396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658440" y="516636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ae4ee"/>
                </a:solidFill>
                <a:effectLst/>
                <a:uFillTx/>
                <a:latin typeface="Aptos"/>
              </a:rPr>
              <a:t>Progress update · 3 July – 1 August 2026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658440" y="5596200"/>
            <a:ext cx="685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658440" y="619956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All reported measurements are traceable to repository artifacts.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PROBLEM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Why Vietnamese SER needs a new starting 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4"/>
          <p:cNvSpPr/>
          <p:nvPr/>
        </p:nvSpPr>
        <p:spPr>
          <a:xfrm>
            <a:off x="640080" y="1600200"/>
            <a:ext cx="3245760" cy="35200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841320" y="1828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841320" y="24872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Data gap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841320" y="3127320"/>
            <a:ext cx="2742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No Vietnamese SER corpus is simultaneously accessible, natural-speech, and clearly licensed.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8"/>
          <p:cNvSpPr/>
          <p:nvPr/>
        </p:nvSpPr>
        <p:spPr>
          <a:xfrm>
            <a:off x="4114800" y="1600200"/>
            <a:ext cx="3245760" cy="35200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4316040" y="1828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37c3cd"/>
                </a:solidFill>
                <a:effectLst/>
                <a:uFillTx/>
                <a:latin typeface="Aptos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4316040" y="24872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Scientific gap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4316040" y="3127320"/>
            <a:ext cx="2742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Vietnamese lexical tone and emotion compete for the same acoustic channel.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2"/>
          <p:cNvSpPr/>
          <p:nvPr/>
        </p:nvSpPr>
        <p:spPr>
          <a:xfrm>
            <a:off x="7589520" y="1600200"/>
            <a:ext cx="3245760" cy="35200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7790760" y="182880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7790760" y="24872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Practical impact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5"/>
          <p:cNvSpPr/>
          <p:nvPr/>
        </p:nvSpPr>
        <p:spPr>
          <a:xfrm>
            <a:off x="7790760" y="3127320"/>
            <a:ext cx="2742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A reliable corpus enables customer care, virtual assistants, and mental-health screening research.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685800" y="562356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ViEmoSpeech creates the resource first—then uses it to test a language-specific hypothesis.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Progress report · 29 Jul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RESEARCH IDEA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The central hypothesis is measurable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731520" y="1572840"/>
            <a:ext cx="3017160" cy="3291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4572000" y="1572840"/>
            <a:ext cx="3017160" cy="3291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ounded Rectangle 6"/>
          <p:cNvSpPr/>
          <p:nvPr/>
        </p:nvSpPr>
        <p:spPr>
          <a:xfrm>
            <a:off x="8412480" y="1572840"/>
            <a:ext cx="3017160" cy="329148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960120" y="18745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LEXICAL TONE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005840" y="26517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lang="en-US" sz="2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Pitch + phonation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encode word meaning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4800600" y="18745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EMOTION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4846320" y="26517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r>
              <a:rPr lang="en-US" sz="2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The same cues encode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affective state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8641080" y="18745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PREDICTION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8686800" y="251460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Text/semantics must carry more weight in Vietnamese SER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13"/>
          <p:cNvCxnSpPr/>
          <p:nvPr/>
        </p:nvCxnSpPr>
        <p:spPr>
          <a:xfrm>
            <a:off x="3748680" y="3200400"/>
            <a:ext cx="823680" cy="360"/>
          </a:xfrm>
          <a:prstGeom prst="straightConnector1">
            <a:avLst/>
          </a:prstGeom>
          <a:ln>
            <a:solidFill>
              <a:srgbClr val="5f6e7f"/>
            </a:solidFill>
            <a:round/>
          </a:ln>
        </p:spPr>
      </p:cxnSp>
      <p:cxnSp>
        <p:nvCxnSpPr>
          <p:cNvPr id="108" name="Connector 14"/>
          <p:cNvCxnSpPr/>
          <p:nvPr/>
        </p:nvCxnSpPr>
        <p:spPr>
          <a:xfrm>
            <a:off x="7589520" y="3200400"/>
            <a:ext cx="823320" cy="360"/>
          </a:xfrm>
          <a:prstGeom prst="straightConnector1">
            <a:avLst/>
          </a:prstGeom>
          <a:ln>
            <a:solidFill>
              <a:srgbClr val="5f6e7f"/>
            </a:solidFill>
            <a:round/>
          </a:ln>
        </p:spPr>
      </p:cxnSp>
      <p:sp>
        <p:nvSpPr>
          <p:cNvPr id="109" name="TextBox 15"/>
          <p:cNvSpPr/>
          <p:nvPr/>
        </p:nvSpPr>
        <p:spPr>
          <a:xfrm>
            <a:off x="822960" y="53492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da4b4b"/>
                </a:solidFill>
                <a:effectLst/>
                <a:uFillTx/>
                <a:latin typeface="Aptos"/>
              </a:rPr>
              <a:t>Early signal: audio-only CCC ≈ 0.09, while strong-emotion ASR errors often alter lexical tones.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Progress report · 29 Jul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SCOPE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Two research products, one hard constraint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ounded Rectangle 4"/>
          <p:cNvSpPr/>
          <p:nvPr/>
        </p:nvSpPr>
        <p:spPr>
          <a:xfrm>
            <a:off x="685800" y="1600200"/>
            <a:ext cx="5211720" cy="36115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6291000" y="1600200"/>
            <a:ext cx="5211720" cy="361152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960120" y="18745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A · CORPUS PAPER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960120" y="242316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ViEmoSpeech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960120" y="3154680"/>
            <a:ext cx="4480200" cy="13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Natural dialogue from Vietnamese TV drama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7 emotions + valence/arousal + age + gender + location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Tone annotation and clear CC-BY artifact license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6565320" y="18745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7c3cd"/>
                </a:solidFill>
                <a:effectLst/>
                <a:uFillTx/>
                <a:latin typeface="Aptos"/>
              </a:rPr>
              <a:t>B · METHOD PAPER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565320" y="242316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Bimodal tone × emotion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6565320" y="3154680"/>
            <a:ext cx="4480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Audio + text modeling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Speaker-disjoint evaluation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4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•  Recall floor for distress (non-clinical proxy)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2"/>
          <p:cNvSpPr/>
          <p:nvPr/>
        </p:nvSpPr>
        <p:spPr>
          <a:xfrm>
            <a:off x="1600200" y="5532120"/>
            <a:ext cx="8960760" cy="502560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>
            <a:solidFill>
              <a:srgbClr val="0e1a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1783080" y="563256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Copyright constraint: release features + timestamps + labels—never full audio or transcripts.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Progress report · 29 Jul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COMPLETED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The extraction pipeline now runs end to end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ounded Rectangle 4"/>
          <p:cNvSpPr/>
          <p:nvPr/>
        </p:nvSpPr>
        <p:spPr>
          <a:xfrm>
            <a:off x="502920" y="1965960"/>
            <a:ext cx="1965600" cy="14169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640080" y="22129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TV episode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640080" y="27889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35.6 min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2496240" y="249624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8"/>
          <p:cNvSpPr/>
          <p:nvPr/>
        </p:nvSpPr>
        <p:spPr>
          <a:xfrm>
            <a:off x="2834640" y="1965960"/>
            <a:ext cx="1965600" cy="14169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2971800" y="22129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Music separation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2971800" y="27889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Demucs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4827960" y="249624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2"/>
          <p:cNvSpPr/>
          <p:nvPr/>
        </p:nvSpPr>
        <p:spPr>
          <a:xfrm>
            <a:off x="5166360" y="1965960"/>
            <a:ext cx="1965600" cy="14169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3"/>
          <p:cNvSpPr/>
          <p:nvPr/>
        </p:nvSpPr>
        <p:spPr>
          <a:xfrm>
            <a:off x="5303520" y="22129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Voice activity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5303520" y="27889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11.9 min · 33%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5"/>
          <p:cNvSpPr/>
          <p:nvPr/>
        </p:nvSpPr>
        <p:spPr>
          <a:xfrm>
            <a:off x="7159680" y="249624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6"/>
          <p:cNvSpPr/>
          <p:nvPr/>
        </p:nvSpPr>
        <p:spPr>
          <a:xfrm>
            <a:off x="7498080" y="1965960"/>
            <a:ext cx="1965600" cy="14169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7635240" y="22129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Turn splitting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7635240" y="27889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175 clips · 10.3 min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9491400" y="249624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0"/>
          <p:cNvSpPr/>
          <p:nvPr/>
        </p:nvSpPr>
        <p:spPr>
          <a:xfrm>
            <a:off x="9829800" y="1965960"/>
            <a:ext cx="1965600" cy="14169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9966960" y="22129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ASR + alignment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2"/>
          <p:cNvSpPr/>
          <p:nvPr/>
        </p:nvSpPr>
        <p:spPr>
          <a:xfrm>
            <a:off x="9966960" y="27889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87.2 similarity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3"/>
          <p:cNvSpPr/>
          <p:nvPr/>
        </p:nvSpPr>
        <p:spPr>
          <a:xfrm>
            <a:off x="777240" y="406908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941760" y="420624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33%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5"/>
          <p:cNvSpPr/>
          <p:nvPr/>
        </p:nvSpPr>
        <p:spPr>
          <a:xfrm>
            <a:off x="941760" y="4727520"/>
            <a:ext cx="300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usable clean speech yield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26"/>
          <p:cNvSpPr/>
          <p:nvPr/>
        </p:nvSpPr>
        <p:spPr>
          <a:xfrm>
            <a:off x="4434840" y="406908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7"/>
          <p:cNvSpPr/>
          <p:nvPr/>
        </p:nvSpPr>
        <p:spPr>
          <a:xfrm>
            <a:off x="4599360" y="420624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100%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8"/>
          <p:cNvSpPr/>
          <p:nvPr/>
        </p:nvSpPr>
        <p:spPr>
          <a:xfrm>
            <a:off x="4599360" y="4727520"/>
            <a:ext cx="300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single-speaker after diarization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29"/>
          <p:cNvSpPr/>
          <p:nvPr/>
        </p:nvSpPr>
        <p:spPr>
          <a:xfrm>
            <a:off x="8092440" y="406908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0"/>
          <p:cNvSpPr/>
          <p:nvPr/>
        </p:nvSpPr>
        <p:spPr>
          <a:xfrm>
            <a:off x="8256960" y="4206240"/>
            <a:ext cx="3008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11.4%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1"/>
          <p:cNvSpPr/>
          <p:nvPr/>
        </p:nvSpPr>
        <p:spPr>
          <a:xfrm>
            <a:off x="8256960" y="4727520"/>
            <a:ext cx="300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diarization blind spot caught by text filter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2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Measured on episode 01 · 35.6 minutes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3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CORPUS STATUS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The corpus is extracted; annotation is the limiting factor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4"/>
          <p:cNvSpPr/>
          <p:nvPr/>
        </p:nvSpPr>
        <p:spPr>
          <a:xfrm>
            <a:off x="685800" y="1554480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850320" y="16916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3,775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850320" y="221292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clips extracted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7"/>
          <p:cNvSpPr/>
          <p:nvPr/>
        </p:nvSpPr>
        <p:spPr>
          <a:xfrm>
            <a:off x="3429000" y="1554480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3593520" y="16916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37c3cd"/>
                </a:solidFill>
                <a:effectLst/>
                <a:uFillTx/>
                <a:latin typeface="Aptos"/>
              </a:rPr>
              <a:t>≈10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9"/>
          <p:cNvSpPr/>
          <p:nvPr/>
        </p:nvSpPr>
        <p:spPr>
          <a:xfrm>
            <a:off x="3593520" y="221292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single-speaker speech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10"/>
          <p:cNvSpPr/>
          <p:nvPr/>
        </p:nvSpPr>
        <p:spPr>
          <a:xfrm>
            <a:off x="6172200" y="1554480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1"/>
          <p:cNvSpPr/>
          <p:nvPr/>
        </p:nvSpPr>
        <p:spPr>
          <a:xfrm>
            <a:off x="6336720" y="16916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926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6336720" y="221292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emotion-labeled clips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3"/>
          <p:cNvSpPr/>
          <p:nvPr/>
        </p:nvSpPr>
        <p:spPr>
          <a:xfrm>
            <a:off x="8915400" y="1554480"/>
            <a:ext cx="2514240" cy="11426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9079920" y="1691640"/>
            <a:ext cx="2185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445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9079920" y="2212920"/>
            <a:ext cx="2185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rejected clips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731520" y="31546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Current corpus coverage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7"/>
          <p:cNvSpPr/>
          <p:nvPr/>
        </p:nvSpPr>
        <p:spPr>
          <a:xfrm>
            <a:off x="731520" y="3703320"/>
            <a:ext cx="10652400" cy="411120"/>
          </a:xfrm>
          <a:prstGeom prst="rect">
            <a:avLst/>
          </a:prstGeom>
          <a:solidFill>
            <a:srgbClr val="dae4ee"/>
          </a:solidFill>
          <a:ln>
            <a:solidFill>
              <a:srgbClr val="dae4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18"/>
          <p:cNvSpPr/>
          <p:nvPr/>
        </p:nvSpPr>
        <p:spPr>
          <a:xfrm>
            <a:off x="731520" y="3703320"/>
            <a:ext cx="2609640" cy="411120"/>
          </a:xfrm>
          <a:prstGeom prst="rect">
            <a:avLst/>
          </a:prstGeom>
          <a:solidFill>
            <a:srgbClr val="2aaa70"/>
          </a:solidFill>
          <a:ln>
            <a:solidFill>
              <a:srgbClr val="2aaa7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19"/>
          <p:cNvSpPr/>
          <p:nvPr/>
        </p:nvSpPr>
        <p:spPr>
          <a:xfrm>
            <a:off x="3341520" y="3703320"/>
            <a:ext cx="1256760" cy="411120"/>
          </a:xfrm>
          <a:prstGeom prst="rect">
            <a:avLst/>
          </a:prstGeom>
          <a:solidFill>
            <a:srgbClr val="f09939"/>
          </a:solidFill>
          <a:ln>
            <a:solidFill>
              <a:srgbClr val="f0993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0"/>
          <p:cNvSpPr/>
          <p:nvPr/>
        </p:nvSpPr>
        <p:spPr>
          <a:xfrm>
            <a:off x="731520" y="4260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24.5% labeled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1"/>
          <p:cNvSpPr/>
          <p:nvPr/>
        </p:nvSpPr>
        <p:spPr>
          <a:xfrm>
            <a:off x="3383280" y="4260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11.8% rejected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2"/>
          <p:cNvSpPr/>
          <p:nvPr/>
        </p:nvSpPr>
        <p:spPr>
          <a:xfrm>
            <a:off x="6400800" y="426096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63.7% not yet reviewed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23"/>
          <p:cNvSpPr/>
          <p:nvPr/>
        </p:nvSpPr>
        <p:spPr>
          <a:xfrm>
            <a:off x="777240" y="5047560"/>
            <a:ext cx="10560960" cy="6854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4"/>
          <p:cNvSpPr/>
          <p:nvPr/>
        </p:nvSpPr>
        <p:spPr>
          <a:xfrm>
            <a:off x="960120" y="52304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da4b4b"/>
                </a:solidFill>
                <a:effectLst/>
                <a:uFillTx/>
                <a:latin typeface="Aptos"/>
              </a:rPr>
              <a:t>Rare-class warning: surprise had only 40 examples in the 29 July snapshot.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5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Current status measured 1 Aug 2026; class distribution snapshot 29 Jul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6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PILOT BASELINE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94360" y="621720"/>
            <a:ext cx="10972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Honest evaluation reveals a meaningful generalization gap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713160" y="15087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7-class emotion macro-F1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713160" y="2057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GroupKFold (optimistic)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6"/>
          <p:cNvSpPr/>
          <p:nvPr/>
        </p:nvSpPr>
        <p:spPr>
          <a:xfrm>
            <a:off x="2724840" y="2075760"/>
            <a:ext cx="2559960" cy="200880"/>
          </a:xfrm>
          <a:prstGeom prst="rect">
            <a:avLst/>
          </a:prstGeom>
          <a:solidFill>
            <a:srgbClr val="dae4ee"/>
          </a:solidFill>
          <a:ln>
            <a:solidFill>
              <a:srgbClr val="dae4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7"/>
          <p:cNvSpPr/>
          <p:nvPr/>
        </p:nvSpPr>
        <p:spPr>
          <a:xfrm>
            <a:off x="2724840" y="2075760"/>
            <a:ext cx="2009520" cy="2008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5376600" y="203904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0.314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9"/>
          <p:cNvSpPr/>
          <p:nvPr/>
        </p:nvSpPr>
        <p:spPr>
          <a:xfrm>
            <a:off x="713160" y="27889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Cross-series (reported)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0"/>
          <p:cNvSpPr/>
          <p:nvPr/>
        </p:nvSpPr>
        <p:spPr>
          <a:xfrm>
            <a:off x="2724840" y="2807280"/>
            <a:ext cx="2559960" cy="200880"/>
          </a:xfrm>
          <a:prstGeom prst="rect">
            <a:avLst/>
          </a:prstGeom>
          <a:solidFill>
            <a:srgbClr val="dae4ee"/>
          </a:solidFill>
          <a:ln>
            <a:solidFill>
              <a:srgbClr val="dae4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1"/>
          <p:cNvSpPr/>
          <p:nvPr/>
        </p:nvSpPr>
        <p:spPr>
          <a:xfrm>
            <a:off x="2724840" y="2807280"/>
            <a:ext cx="1593360" cy="200880"/>
          </a:xfrm>
          <a:prstGeom prst="rect">
            <a:avLst/>
          </a:prstGeom>
          <a:solidFill>
            <a:srgbClr val="2aaa70"/>
          </a:solidFill>
          <a:ln>
            <a:solidFill>
              <a:srgbClr val="2aaa7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2"/>
          <p:cNvSpPr/>
          <p:nvPr/>
        </p:nvSpPr>
        <p:spPr>
          <a:xfrm>
            <a:off x="5376600" y="277056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0.249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3"/>
          <p:cNvSpPr/>
          <p:nvPr/>
        </p:nvSpPr>
        <p:spPr>
          <a:xfrm>
            <a:off x="713160" y="35204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Random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4"/>
          <p:cNvSpPr/>
          <p:nvPr/>
        </p:nvSpPr>
        <p:spPr>
          <a:xfrm>
            <a:off x="2724840" y="3538800"/>
            <a:ext cx="2559960" cy="200880"/>
          </a:xfrm>
          <a:prstGeom prst="rect">
            <a:avLst/>
          </a:prstGeom>
          <a:solidFill>
            <a:srgbClr val="dae4ee"/>
          </a:solidFill>
          <a:ln>
            <a:solidFill>
              <a:srgbClr val="dae4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15"/>
          <p:cNvSpPr/>
          <p:nvPr/>
        </p:nvSpPr>
        <p:spPr>
          <a:xfrm>
            <a:off x="2724840" y="3538800"/>
            <a:ext cx="255600" cy="200880"/>
          </a:xfrm>
          <a:prstGeom prst="rect">
            <a:avLst/>
          </a:prstGeom>
          <a:solidFill>
            <a:srgbClr val="5f6e7f"/>
          </a:solidFill>
          <a:ln>
            <a:solidFill>
              <a:srgbClr val="5f6e7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6"/>
          <p:cNvSpPr/>
          <p:nvPr/>
        </p:nvSpPr>
        <p:spPr>
          <a:xfrm>
            <a:off x="5376600" y="350208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≈0.04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7"/>
          <p:cNvSpPr/>
          <p:nvPr/>
        </p:nvSpPr>
        <p:spPr>
          <a:xfrm>
            <a:off x="6629400" y="1572840"/>
            <a:ext cx="4800240" cy="278856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8"/>
          <p:cNvSpPr/>
          <p:nvPr/>
        </p:nvSpPr>
        <p:spPr>
          <a:xfrm>
            <a:off x="6931080" y="182880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09939"/>
                </a:solidFill>
                <a:effectLst/>
                <a:uFillTx/>
                <a:latin typeface="Aptos"/>
              </a:rPr>
              <a:t>What the gap means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9"/>
          <p:cNvSpPr/>
          <p:nvPr/>
        </p:nvSpPr>
        <p:spPr>
          <a:xfrm>
            <a:off x="6931080" y="2468880"/>
            <a:ext cx="4114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Δ ≈ 0.065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0"/>
          <p:cNvSpPr/>
          <p:nvPr/>
        </p:nvSpPr>
        <p:spPr>
          <a:xfrm>
            <a:off x="6931080" y="3154680"/>
            <a:ext cx="3977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Repeated actors inflate performance when train and test share a series.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21"/>
          <p:cNvSpPr/>
          <p:nvPr/>
        </p:nvSpPr>
        <p:spPr>
          <a:xfrm>
            <a:off x="713160" y="4800600"/>
            <a:ext cx="10716480" cy="776880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>
            <a:solidFill>
              <a:srgbClr val="0e1a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2"/>
          <p:cNvSpPr/>
          <p:nvPr/>
        </p:nvSpPr>
        <p:spPr>
          <a:xfrm>
            <a:off x="960120" y="4983480"/>
            <a:ext cx="10195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0.249 is well above chance—but remains a pilot until human–human reliability is measured.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3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WavLM-Large frozen + linear probe · 750 human-labeled clean clips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4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1"/>
          <p:cNvSpPr/>
          <p:nvPr/>
        </p:nvSpPr>
        <p:spPr>
          <a:xfrm>
            <a:off x="594360" y="2926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6fdb"/>
                </a:solidFill>
                <a:effectLst/>
                <a:uFillTx/>
                <a:latin typeface="Aptos"/>
              </a:rPr>
              <a:t>CURRENT BLOCKER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594360" y="621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The critical path is human–human reliability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3"/>
          <p:cNvSpPr/>
          <p:nvPr/>
        </p:nvSpPr>
        <p:spPr>
          <a:xfrm>
            <a:off x="594360" y="1225440"/>
            <a:ext cx="10972440" cy="22680"/>
          </a:xfrm>
          <a:prstGeom prst="rect">
            <a:avLst/>
          </a:prstGeom>
          <a:solidFill>
            <a:srgbClr val="2a6fdb"/>
          </a:solidFill>
          <a:ln>
            <a:solidFill>
              <a:srgbClr val="2a6f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4"/>
          <p:cNvSpPr/>
          <p:nvPr/>
        </p:nvSpPr>
        <p:spPr>
          <a:xfrm>
            <a:off x="731520" y="1508760"/>
            <a:ext cx="10698120" cy="795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96012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Tools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251460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3886200" y="1673280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Consent, blind UI, access control, audit logs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8"/>
          <p:cNvSpPr/>
          <p:nvPr/>
        </p:nvSpPr>
        <p:spPr>
          <a:xfrm>
            <a:off x="731520" y="2532960"/>
            <a:ext cx="10698120" cy="795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960120" y="26974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Protocol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2514600" y="26974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1"/>
          <p:cNvSpPr/>
          <p:nvPr/>
        </p:nvSpPr>
        <p:spPr>
          <a:xfrm>
            <a:off x="3886200" y="2697480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Pre-registered QC, qualification rounds, gold-set workflow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12"/>
          <p:cNvSpPr/>
          <p:nvPr/>
        </p:nvSpPr>
        <p:spPr>
          <a:xfrm>
            <a:off x="731520" y="3557160"/>
            <a:ext cx="10698120" cy="795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3"/>
          <p:cNvSpPr/>
          <p:nvPr/>
        </p:nvSpPr>
        <p:spPr>
          <a:xfrm>
            <a:off x="960120" y="37216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2514600" y="37216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aaa70"/>
                </a:solidFill>
                <a:effectLst/>
                <a:uFillTx/>
                <a:latin typeface="Aptos"/>
              </a:rPr>
              <a:t>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3886200" y="3721680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Fleiss’ κ + Krippendorff’s α, unit-checked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16"/>
          <p:cNvSpPr/>
          <p:nvPr/>
        </p:nvSpPr>
        <p:spPr>
          <a:xfrm>
            <a:off x="731520" y="4581000"/>
            <a:ext cx="10698120" cy="795240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f2f6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7"/>
          <p:cNvSpPr/>
          <p:nvPr/>
        </p:nvSpPr>
        <p:spPr>
          <a:xfrm>
            <a:off x="960120" y="47458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1a2b"/>
                </a:solidFill>
                <a:effectLst/>
                <a:uFillTx/>
                <a:latin typeface="Aptos"/>
              </a:rPr>
              <a:t>People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2514600" y="47458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a4b4b"/>
                </a:solidFill>
                <a:effectLst/>
                <a:uFillTx/>
                <a:latin typeface="Aptos"/>
              </a:rPr>
              <a:t>Blocked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9"/>
          <p:cNvSpPr/>
          <p:nvPr/>
        </p:nvSpPr>
        <p:spPr>
          <a:xfrm>
            <a:off x="3886200" y="4745880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d2735"/>
                </a:solidFill>
                <a:effectLst/>
                <a:uFillTx/>
                <a:latin typeface="Aptos"/>
              </a:rPr>
              <a:t>3 real annotators + ~250 fully overlapping clips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20"/>
          <p:cNvSpPr/>
          <p:nvPr/>
        </p:nvSpPr>
        <p:spPr>
          <a:xfrm>
            <a:off x="1508760" y="5779080"/>
            <a:ext cx="9143640" cy="502560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>
            <a:solidFill>
              <a:srgbClr val="0e1a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1"/>
          <p:cNvSpPr/>
          <p:nvPr/>
        </p:nvSpPr>
        <p:spPr>
          <a:xfrm>
            <a:off x="1737360" y="5888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Without human–human κ, the dataset paper is not publication-ready.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2"/>
          <p:cNvSpPr/>
          <p:nvPr/>
        </p:nvSpPr>
        <p:spPr>
          <a:xfrm>
            <a:off x="621720" y="6537960"/>
            <a:ext cx="9875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Progress report · 29 Jul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3"/>
          <p:cNvSpPr/>
          <p:nvPr/>
        </p:nvSpPr>
        <p:spPr>
          <a:xfrm>
            <a:off x="10972800" y="6510600"/>
            <a:ext cx="594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f6e7f"/>
                </a:solidFill>
                <a:effectLst/>
                <a:uFillTx/>
                <a:latin typeface="Apto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LibreOffice/25.8.7.3$Windows_X86_64 LibreOffice_project/30742500f2d3eb4366ac312fa33d3dcabdb3eba5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Nguyễn Duy Tấn Phát</dc:creator>
  <dc:description>Generated from docs/progress-report-2026-07-29.md</dc:description>
  <dc:language>en-US</dc:language>
  <cp:lastModifiedBy/>
  <dcterms:modified xsi:type="dcterms:W3CDTF">2026-08-03T16:47:07Z</dcterms:modified>
  <cp:revision>2</cp:revision>
  <dc:subject>Vietnamese Speech Emotion Recognition corpus and tone × emotion research</dc:subject>
  <dc:title>ViEmoSpeech Progress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